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39" r:id="rId10"/>
    <p:sldId id="340" r:id="rId11"/>
    <p:sldId id="341" r:id="rId12"/>
    <p:sldId id="342" r:id="rId13"/>
    <p:sldId id="343" r:id="rId14"/>
    <p:sldId id="344" r:id="rId15"/>
    <p:sldId id="345"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76" d="100"/>
          <a:sy n="76" d="100"/>
        </p:scale>
        <p:origin x="-420" y="-78"/>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10/28/2024</a:t>
            </a:fld>
            <a:endParaRPr lang="en-US" dirty="0"/>
          </a:p>
        </p:txBody>
      </p:sp>
      <p:sp>
        <p:nvSpPr>
          <p:cNvPr id="4" name="Footer Placeholder 3">
            <a:extLst>
              <a:ext uri="{FF2B5EF4-FFF2-40B4-BE49-F238E27FC236}">
                <a16:creationId xmlns=""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10/28/2024</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10/28/2024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10/28/2024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10/28/2024</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10/28/2024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10/28/2024</a:t>
            </a:fld>
            <a:endParaRPr lang="en-US" sz="1100" dirty="0">
              <a:solidFill>
                <a:schemeClr val="accent2"/>
              </a:solidFill>
            </a:endParaRPr>
          </a:p>
        </p:txBody>
      </p:sp>
      <p:sp>
        <p:nvSpPr>
          <p:cNvPr id="29" name="Footer Placeholder 4">
            <a:extLst>
              <a:ext uri="{FF2B5EF4-FFF2-40B4-BE49-F238E27FC236}">
                <a16:creationId xmlns=""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7201737A-B873-4D1D-8A41-5ABF5184BC8F}"/>
              </a:ext>
            </a:extLst>
          </p:cNvPr>
          <p:cNvSpPr>
            <a:spLocks noGrp="1"/>
          </p:cNvSpPr>
          <p:nvPr>
            <p:ph type="body" sz="quarter" idx="11"/>
          </p:nvPr>
        </p:nvSpPr>
        <p:spPr>
          <a:xfrm>
            <a:off x="3920646" y="3783859"/>
            <a:ext cx="6225435" cy="2426441"/>
          </a:xfrm>
        </p:spPr>
        <p:txBody>
          <a:bodyPr>
            <a:normAutofit lnSpcReduction="10000"/>
          </a:bodyPr>
          <a:lstStyle/>
          <a:p>
            <a:pPr algn="r"/>
            <a:r>
              <a:rPr lang="en-IN" dirty="0">
                <a:solidFill>
                  <a:schemeClr val="tx1"/>
                </a:solidFill>
              </a:rPr>
              <a:t>ATHARV SANDIPRAO </a:t>
            </a:r>
            <a:r>
              <a:rPr lang="en-IN" dirty="0" smtClean="0">
                <a:solidFill>
                  <a:schemeClr val="tx1"/>
                </a:solidFill>
              </a:rPr>
              <a:t>KHAWALE</a:t>
            </a:r>
          </a:p>
          <a:p>
            <a:pPr algn="r"/>
            <a:r>
              <a:rPr lang="en-US" b="0" dirty="0" smtClean="0">
                <a:solidFill>
                  <a:schemeClr val="tx1"/>
                </a:solidFill>
              </a:rPr>
              <a:t>AICTE </a:t>
            </a:r>
            <a:r>
              <a:rPr lang="en-US" b="0" dirty="0" smtClean="0">
                <a:solidFill>
                  <a:schemeClr val="tx1"/>
                </a:solidFill>
              </a:rPr>
              <a:t>ID: </a:t>
            </a:r>
            <a:r>
              <a:rPr lang="en-IN" dirty="0" smtClean="0">
                <a:solidFill>
                  <a:schemeClr val="tx1"/>
                </a:solidFill>
              </a:rPr>
              <a:t>172717024366f286c3ec768</a:t>
            </a:r>
          </a:p>
          <a:p>
            <a:pPr algn="r"/>
            <a:r>
              <a:rPr lang="en-US" b="0" dirty="0" smtClean="0">
                <a:solidFill>
                  <a:schemeClr val="tx1"/>
                </a:solidFill>
              </a:rPr>
              <a:t>P</a:t>
            </a:r>
            <a:r>
              <a:rPr lang="en-US" b="0" dirty="0" smtClean="0">
                <a:solidFill>
                  <a:schemeClr val="tx1"/>
                </a:solidFill>
              </a:rPr>
              <a:t>. R. </a:t>
            </a:r>
            <a:r>
              <a:rPr lang="en-US" b="0" dirty="0" err="1" smtClean="0">
                <a:solidFill>
                  <a:schemeClr val="tx1"/>
                </a:solidFill>
              </a:rPr>
              <a:t>Pote</a:t>
            </a:r>
            <a:r>
              <a:rPr lang="en-US" b="0" dirty="0" smtClean="0">
                <a:solidFill>
                  <a:schemeClr val="tx1"/>
                </a:solidFill>
              </a:rPr>
              <a:t> </a:t>
            </a:r>
            <a:r>
              <a:rPr lang="en-US" b="0" dirty="0" err="1" smtClean="0">
                <a:solidFill>
                  <a:schemeClr val="tx1"/>
                </a:solidFill>
              </a:rPr>
              <a:t>Patil</a:t>
            </a:r>
            <a:r>
              <a:rPr lang="en-US" b="0" dirty="0" smtClean="0">
                <a:solidFill>
                  <a:schemeClr val="tx1"/>
                </a:solidFill>
              </a:rPr>
              <a:t> College of Engineering and Management, Amravati</a:t>
            </a:r>
          </a:p>
          <a:p>
            <a:pPr algn="r"/>
            <a:r>
              <a:rPr lang="en-IN" b="0" dirty="0" smtClean="0">
                <a:solidFill>
                  <a:schemeClr val="tx1"/>
                </a:solidFill>
              </a:rPr>
              <a:t>Artificial Intelligence and Data Science</a:t>
            </a:r>
            <a:endParaRPr lang="en-IN" b="0" dirty="0" smtClean="0">
              <a:solidFill>
                <a:schemeClr val="tx1"/>
              </a:solidFill>
            </a:endParaRPr>
          </a:p>
          <a:p>
            <a:pPr algn="r"/>
            <a:r>
              <a:rPr lang="en-IN" b="0" dirty="0" smtClean="0">
                <a:solidFill>
                  <a:schemeClr val="tx1"/>
                </a:solidFill>
              </a:rPr>
              <a:t>3</a:t>
            </a:r>
            <a:r>
              <a:rPr lang="en-IN" b="0" baseline="30000" dirty="0" smtClean="0">
                <a:solidFill>
                  <a:schemeClr val="tx1"/>
                </a:solidFill>
              </a:rPr>
              <a:t>rd</a:t>
            </a:r>
            <a:r>
              <a:rPr lang="en-IN" b="0" dirty="0" smtClean="0">
                <a:solidFill>
                  <a:schemeClr val="tx1"/>
                </a:solidFill>
              </a:rPr>
              <a:t> Year</a:t>
            </a:r>
            <a:endParaRPr lang="en-IN" b="0" dirty="0">
              <a:solidFill>
                <a:schemeClr val="tx1"/>
              </a:solidFill>
            </a:endParaRPr>
          </a:p>
        </p:txBody>
      </p:sp>
      <p:sp>
        <p:nvSpPr>
          <p:cNvPr id="4" name="Title 3">
            <a:extLst>
              <a:ext uri="{FF2B5EF4-FFF2-40B4-BE49-F238E27FC236}">
                <a16:creationId xmlns="" xmlns:a16="http://schemas.microsoft.com/office/drawing/2014/main" id="{92056599-CDAA-4367-BEF8-31D6E32518C8}"/>
              </a:ext>
            </a:extLst>
          </p:cNvPr>
          <p:cNvSpPr>
            <a:spLocks noGrp="1"/>
          </p:cNvSpPr>
          <p:nvPr>
            <p:ph type="title"/>
          </p:nvPr>
        </p:nvSpPr>
        <p:spPr>
          <a:xfrm>
            <a:off x="5072794" y="2050553"/>
            <a:ext cx="4998720" cy="743448"/>
          </a:xfrm>
        </p:spPr>
        <p:txBody>
          <a:bodyPr>
            <a:normAutofit fontScale="90000"/>
          </a:bodyPr>
          <a:lstStyle/>
          <a:p>
            <a:r>
              <a:rPr lang="en-US" sz="3200" dirty="0"/>
              <a:t>Data Analysis of Superstore Sales for Strategic Insights</a:t>
            </a:r>
            <a:endParaRPr lang="en-IN" sz="3200" dirty="0"/>
          </a:p>
        </p:txBody>
      </p:sp>
      <p:sp>
        <p:nvSpPr>
          <p:cNvPr id="15" name="Text Placeholder 1">
            <a:extLst>
              <a:ext uri="{FF2B5EF4-FFF2-40B4-BE49-F238E27FC236}">
                <a16:creationId xmlns=""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47" dur="500"/>
                                        <p:tgtEl>
                                          <p:spTgt spid="2">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2">
                                            <p:txEl>
                                              <p:pRg st="4" end="4"/>
                                            </p:txEl>
                                          </p:spTgt>
                                        </p:tgtEl>
                                        <p:attrNameLst>
                                          <p:attrName>style.visibility</p:attrName>
                                        </p:attrNameLst>
                                      </p:cBhvr>
                                      <p:to>
                                        <p:strVal val="visible"/>
                                      </p:to>
                                    </p:set>
                                    <p:animEffect transition="in" filter="randombar(horizontal)">
                                      <p:cBhvr>
                                        <p:cTn id="5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62500" lnSpcReduction="20000"/>
          </a:bodyPr>
          <a:lstStyle/>
          <a:p>
            <a:pPr algn="just">
              <a:lnSpc>
                <a:spcPct val="150000"/>
              </a:lnSpc>
            </a:pPr>
            <a:r>
              <a:rPr lang="en-IN" sz="2800" dirty="0" smtClean="0"/>
              <a:t>Retail Businesses are able to generate a extensive sales data but often struggle to extract actionable insights which could have helped to improve decision making.</a:t>
            </a:r>
          </a:p>
          <a:p>
            <a:pPr algn="just">
              <a:lnSpc>
                <a:spcPct val="150000"/>
              </a:lnSpc>
            </a:pPr>
            <a:r>
              <a:rPr lang="en-IN" sz="2800" dirty="0" smtClean="0"/>
              <a:t>This project aims to do analysis of superstore sales data to identify trends, understand what customer wants, and evaluate performance on the basis of region, which in last will provide insights for enhancing sales strategies and operational efficiency, </a:t>
            </a:r>
            <a:endParaRPr lang="en-IN" sz="2800" dirty="0"/>
          </a:p>
        </p:txBody>
      </p:sp>
      <p:sp>
        <p:nvSpPr>
          <p:cNvPr id="4" name="Title 3">
            <a:extLst>
              <a:ext uri="{FF2B5EF4-FFF2-40B4-BE49-F238E27FC236}">
                <a16:creationId xmlns=""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smtClean="0"/>
              <a:t>Project Description</a:t>
            </a:r>
            <a:br>
              <a:rPr lang="en-GB" dirty="0" smtClean="0"/>
            </a:br>
            <a:endParaRPr lang="en-IN" dirty="0"/>
          </a:p>
        </p:txBody>
      </p:sp>
      <p:pic>
        <p:nvPicPr>
          <p:cNvPr id="5" name="Picture 4">
            <a:extLst>
              <a:ext uri="{FF2B5EF4-FFF2-40B4-BE49-F238E27FC236}">
                <a16:creationId xmlns=""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 Placeholder 1">
            <a:extLst>
              <a:ext uri="{FF2B5EF4-FFF2-40B4-BE49-F238E27FC236}">
                <a16:creationId xmlns=""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Autofit/>
          </a:bodyPr>
          <a:lstStyle/>
          <a:p>
            <a:pPr algn="just">
              <a:lnSpc>
                <a:spcPct val="150000"/>
              </a:lnSpc>
            </a:pPr>
            <a:r>
              <a:rPr lang="en-IN" sz="1600" dirty="0" smtClean="0"/>
              <a:t>This project’s primary focus is on analysing the superstore’s data to understand trend in sale, products preferences, and regional performance.</a:t>
            </a:r>
          </a:p>
          <a:p>
            <a:pPr algn="just">
              <a:lnSpc>
                <a:spcPct val="150000"/>
              </a:lnSpc>
            </a:pPr>
            <a:r>
              <a:rPr lang="en-IN" sz="1600" dirty="0" smtClean="0"/>
              <a:t>The analysis includes exploring key insights such as sales, profit, discounts, and quantities sold across various customer segments, product categories, and geographic regions.</a:t>
            </a:r>
          </a:p>
          <a:p>
            <a:pPr algn="just">
              <a:lnSpc>
                <a:spcPct val="150000"/>
              </a:lnSpc>
            </a:pPr>
            <a:r>
              <a:rPr lang="en-IN" sz="1600" dirty="0" smtClean="0"/>
              <a:t>Through data visualization and statistical analysis, the project aim to identify patterns, highlight growth opportunities, and detect areas where profitability can be improved.</a:t>
            </a:r>
            <a:endParaRPr lang="en-IN" sz="16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55000" lnSpcReduction="20000"/>
          </a:bodyPr>
          <a:lstStyle/>
          <a:p>
            <a:pPr algn="just">
              <a:lnSpc>
                <a:spcPct val="150000"/>
              </a:lnSpc>
            </a:pPr>
            <a:r>
              <a:rPr lang="en-IN" sz="3600" dirty="0" smtClean="0"/>
              <a:t>Business Analysts: It can be useful to business analysts to derive insights into performance of sales and profit drivers.</a:t>
            </a:r>
          </a:p>
          <a:p>
            <a:pPr algn="just">
              <a:lnSpc>
                <a:spcPct val="150000"/>
              </a:lnSpc>
            </a:pPr>
            <a:r>
              <a:rPr lang="en-IN" sz="3600" dirty="0" smtClean="0"/>
              <a:t>Retail Managers: It can be vital to Retail Managers to understand what sales trends are product and region-wise.</a:t>
            </a:r>
          </a:p>
          <a:p>
            <a:pPr algn="just">
              <a:lnSpc>
                <a:spcPct val="150000"/>
              </a:lnSpc>
            </a:pPr>
            <a:r>
              <a:rPr lang="en-IN" sz="3600" dirty="0" smtClean="0"/>
              <a:t>Data Enthusiasts: It can be important for educating purposes in data analysis and data visualization.</a:t>
            </a:r>
            <a:endParaRPr lang="en-IN" sz="3600" dirty="0"/>
          </a:p>
        </p:txBody>
      </p:sp>
      <p:sp>
        <p:nvSpPr>
          <p:cNvPr id="4" name="Title 3">
            <a:extLst>
              <a:ext uri="{FF2B5EF4-FFF2-40B4-BE49-F238E27FC236}">
                <a16:creationId xmlns=""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gn="just">
              <a:lnSpc>
                <a:spcPct val="150000"/>
              </a:lnSpc>
            </a:pPr>
            <a:r>
              <a:rPr lang="en-IN" dirty="0" smtClean="0"/>
              <a:t>Programming Language: Python</a:t>
            </a:r>
          </a:p>
          <a:p>
            <a:pPr lvl="1" algn="just">
              <a:lnSpc>
                <a:spcPct val="150000"/>
              </a:lnSpc>
            </a:pPr>
            <a:r>
              <a:rPr lang="en-IN" dirty="0" smtClean="0"/>
              <a:t>Python Libraries:</a:t>
            </a:r>
          </a:p>
          <a:p>
            <a:pPr lvl="2" algn="just">
              <a:lnSpc>
                <a:spcPct val="150000"/>
              </a:lnSpc>
            </a:pPr>
            <a:r>
              <a:rPr lang="en-IN" dirty="0" smtClean="0"/>
              <a:t>Pandas: For Data Cleaning and Manipulation</a:t>
            </a:r>
          </a:p>
          <a:p>
            <a:pPr lvl="2" algn="just">
              <a:lnSpc>
                <a:spcPct val="150000"/>
              </a:lnSpc>
            </a:pPr>
            <a:r>
              <a:rPr lang="en-IN" dirty="0" err="1" smtClean="0"/>
              <a:t>Matlplotlib</a:t>
            </a:r>
            <a:r>
              <a:rPr lang="en-IN" dirty="0" smtClean="0"/>
              <a:t> : For Data Visualization</a:t>
            </a:r>
          </a:p>
          <a:p>
            <a:pPr lvl="1" algn="just">
              <a:lnSpc>
                <a:spcPct val="150000"/>
              </a:lnSpc>
            </a:pPr>
            <a:r>
              <a:rPr lang="en-IN" dirty="0" smtClean="0"/>
              <a:t>IDE used: VS Code (</a:t>
            </a:r>
            <a:r>
              <a:rPr lang="en-IN" dirty="0" err="1" smtClean="0"/>
              <a:t>jupyter</a:t>
            </a:r>
            <a:r>
              <a:rPr lang="en-IN" dirty="0" smtClean="0"/>
              <a:t> notebook</a:t>
            </a:r>
            <a:r>
              <a:rPr lang="en-IN" dirty="0"/>
              <a:t>)</a:t>
            </a:r>
            <a:endParaRPr lang="en-IN" dirty="0" smtClean="0"/>
          </a:p>
        </p:txBody>
      </p:sp>
      <p:sp>
        <p:nvSpPr>
          <p:cNvPr id="9" name="Title 8">
            <a:extLst>
              <a:ext uri="{FF2B5EF4-FFF2-40B4-BE49-F238E27FC236}">
                <a16:creationId xmlns=""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smtClean="0"/>
              <a:t>Technology Used</a:t>
            </a:r>
            <a:endParaRPr lang="en-US" dirty="0"/>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xmlns="" val="tx"/>
                    </a:ext>
                  </a:extLst>
                </a:hlinkClick>
              </a:rPr>
              <a:t>Demo Link</a:t>
            </a:r>
            <a:endParaRPr lang="en-IN" b="0" u="sng" dirty="0">
              <a:solidFill>
                <a:srgbClr val="0070C0"/>
              </a:solidFill>
            </a:endParaRPr>
          </a:p>
        </p:txBody>
      </p:sp>
      <p:sp>
        <p:nvSpPr>
          <p:cNvPr id="10" name="Text Placeholder 1">
            <a:extLst>
              <a:ext uri="{FF2B5EF4-FFF2-40B4-BE49-F238E27FC236}">
                <a16:creationId xmlns="" xmlns:a16="http://schemas.microsoft.com/office/drawing/2014/main" id="{B19D8AC7-3787-4ADB-9212-0808F015C2DD}"/>
              </a:ext>
            </a:extLst>
          </p:cNvPr>
          <p:cNvSpPr>
            <a:spLocks noGrp="1"/>
          </p:cNvSpPr>
          <p:nvPr>
            <p:ph type="body" sz="quarter" idx="12"/>
          </p:nvPr>
        </p:nvSpPr>
        <p:spPr>
          <a:xfrm>
            <a:off x="807163" y="1431693"/>
            <a:ext cx="4414835" cy="4405436"/>
          </a:xfrm>
        </p:spPr>
        <p:txBody>
          <a:bodyPr>
            <a:normAutofit/>
          </a:bodyPr>
          <a:lstStyle/>
          <a:p>
            <a:pPr marL="0" indent="0" algn="just">
              <a:buNone/>
            </a:pPr>
            <a:r>
              <a:rPr lang="en-IN" dirty="0" smtClean="0"/>
              <a:t>Sales Trend Analysis on the Basis of Region:</a:t>
            </a:r>
          </a:p>
          <a:p>
            <a:pPr lvl="1" algn="just"/>
            <a:r>
              <a:rPr lang="en-IN" dirty="0" smtClean="0"/>
              <a:t>According to this bar graph we can say that west has highest number of sales that is above 700000.</a:t>
            </a:r>
          </a:p>
          <a:p>
            <a:pPr lvl="1" algn="just"/>
            <a:r>
              <a:rPr lang="en-IN" dirty="0" smtClean="0"/>
              <a:t>East and Central Region have less than 700000 and more than 400000 sales.</a:t>
            </a:r>
          </a:p>
          <a:p>
            <a:pPr lvl="1" algn="just"/>
            <a:r>
              <a:rPr lang="en-IN" dirty="0" smtClean="0"/>
              <a:t>South has the lowest which is below 400000.</a:t>
            </a:r>
          </a:p>
          <a:p>
            <a:pPr marL="685800" lvl="1" algn="just"/>
            <a:endParaRPr lang="en-IN" dirty="0" smtClean="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21998" y="1608410"/>
            <a:ext cx="5285242" cy="4489713"/>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xEl>
                                              <p:pRg st="1" end="1"/>
                                            </p:txEl>
                                          </p:spTgt>
                                        </p:tgtEl>
                                        <p:attrNameLst>
                                          <p:attrName>style.visibility</p:attrName>
                                        </p:attrNameLst>
                                      </p:cBhvr>
                                      <p:to>
                                        <p:strVal val="visible"/>
                                      </p:to>
                                    </p:set>
                                    <p:animEffect transition="in" filter="fade">
                                      <p:cBhvr>
                                        <p:cTn id="33" dur="1000"/>
                                        <p:tgtEl>
                                          <p:spTgt spid="10">
                                            <p:txEl>
                                              <p:pRg st="1" end="1"/>
                                            </p:txEl>
                                          </p:spTgt>
                                        </p:tgtEl>
                                      </p:cBhvr>
                                    </p:animEffect>
                                    <p:anim calcmode="lin" valueType="num">
                                      <p:cBhvr>
                                        <p:cTn id="34"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5"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0">
                                            <p:txEl>
                                              <p:pRg st="2" end="2"/>
                                            </p:txEl>
                                          </p:spTgt>
                                        </p:tgtEl>
                                        <p:attrNameLst>
                                          <p:attrName>style.visibility</p:attrName>
                                        </p:attrNameLst>
                                      </p:cBhvr>
                                      <p:to>
                                        <p:strVal val="visible"/>
                                      </p:to>
                                    </p:set>
                                    <p:animEffect transition="in" filter="fade">
                                      <p:cBhvr>
                                        <p:cTn id="38" dur="1000"/>
                                        <p:tgtEl>
                                          <p:spTgt spid="10">
                                            <p:txEl>
                                              <p:pRg st="2" end="2"/>
                                            </p:txEl>
                                          </p:spTgt>
                                        </p:tgtEl>
                                      </p:cBhvr>
                                    </p:animEffect>
                                    <p:anim calcmode="lin" valueType="num">
                                      <p:cBhvr>
                                        <p:cTn id="39"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0" dur="1000" fill="hold"/>
                                        <p:tgtEl>
                                          <p:spTgt spid="10">
                                            <p:txEl>
                                              <p:pRg st="2" end="2"/>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0">
                                            <p:txEl>
                                              <p:pRg st="3" end="3"/>
                                            </p:txEl>
                                          </p:spTgt>
                                        </p:tgtEl>
                                        <p:attrNameLst>
                                          <p:attrName>style.visibility</p:attrName>
                                        </p:attrNameLst>
                                      </p:cBhvr>
                                      <p:to>
                                        <p:strVal val="visible"/>
                                      </p:to>
                                    </p:set>
                                    <p:animEffect transition="in" filter="fade">
                                      <p:cBhvr>
                                        <p:cTn id="43" dur="1000"/>
                                        <p:tgtEl>
                                          <p:spTgt spid="10">
                                            <p:txEl>
                                              <p:pRg st="3" end="3"/>
                                            </p:txEl>
                                          </p:spTgt>
                                        </p:tgtEl>
                                      </p:cBhvr>
                                    </p:animEffect>
                                    <p:anim calcmode="lin" valueType="num">
                                      <p:cBhvr>
                                        <p:cTn id="44"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45"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xmlns="" val="tx"/>
                    </a:ext>
                  </a:extLst>
                </a:hlinkClick>
              </a:rPr>
              <a:t>Demo Link</a:t>
            </a:r>
            <a:endParaRPr lang="en-IN" b="0" u="sng" dirty="0">
              <a:solidFill>
                <a:srgbClr val="0070C0"/>
              </a:solidFill>
            </a:endParaRPr>
          </a:p>
        </p:txBody>
      </p:sp>
      <p:sp>
        <p:nvSpPr>
          <p:cNvPr id="10" name="Text Placeholder 1">
            <a:extLst>
              <a:ext uri="{FF2B5EF4-FFF2-40B4-BE49-F238E27FC236}">
                <a16:creationId xmlns="" xmlns:a16="http://schemas.microsoft.com/office/drawing/2014/main" id="{B19D8AC7-3787-4ADB-9212-0808F015C2DD}"/>
              </a:ext>
            </a:extLst>
          </p:cNvPr>
          <p:cNvSpPr>
            <a:spLocks noGrp="1"/>
          </p:cNvSpPr>
          <p:nvPr>
            <p:ph type="body" sz="quarter" idx="12"/>
          </p:nvPr>
        </p:nvSpPr>
        <p:spPr>
          <a:xfrm>
            <a:off x="807163" y="1431693"/>
            <a:ext cx="4414835" cy="4405436"/>
          </a:xfrm>
        </p:spPr>
        <p:txBody>
          <a:bodyPr>
            <a:normAutofit/>
          </a:bodyPr>
          <a:lstStyle/>
          <a:p>
            <a:pPr marL="0" indent="0" algn="just">
              <a:buNone/>
            </a:pPr>
            <a:r>
              <a:rPr lang="en-IN" dirty="0" smtClean="0"/>
              <a:t>Sales Trend Analysis on the Basis of Category:</a:t>
            </a:r>
          </a:p>
          <a:p>
            <a:pPr lvl="1" algn="just"/>
            <a:r>
              <a:rPr lang="en-IN" dirty="0" smtClean="0"/>
              <a:t>According to this bar graph the technology category has highest number of sales.</a:t>
            </a:r>
          </a:p>
          <a:p>
            <a:pPr lvl="1" algn="just"/>
            <a:r>
              <a:rPr lang="en-IN" dirty="0" smtClean="0"/>
              <a:t>Furniture is second in three and office supplies being the last and bottom. </a:t>
            </a:r>
          </a:p>
          <a:p>
            <a:pPr marL="685800" lvl="1" algn="just"/>
            <a:endParaRPr lang="en-IN" dirty="0" smtClean="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83836" y="1608410"/>
            <a:ext cx="4761566" cy="4489713"/>
          </a:xfrm>
          <a:prstGeom prst="rect">
            <a:avLst/>
          </a:prstGeom>
        </p:spPr>
      </p:pic>
    </p:spTree>
    <p:extLst>
      <p:ext uri="{BB962C8B-B14F-4D97-AF65-F5344CB8AC3E}">
        <p14:creationId xmlns:p14="http://schemas.microsoft.com/office/powerpoint/2010/main" val="1674557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xEl>
                                              <p:pRg st="1" end="1"/>
                                            </p:txEl>
                                          </p:spTgt>
                                        </p:tgtEl>
                                        <p:attrNameLst>
                                          <p:attrName>style.visibility</p:attrName>
                                        </p:attrNameLst>
                                      </p:cBhvr>
                                      <p:to>
                                        <p:strVal val="visible"/>
                                      </p:to>
                                    </p:set>
                                    <p:animEffect transition="in" filter="fade">
                                      <p:cBhvr>
                                        <p:cTn id="33" dur="1000"/>
                                        <p:tgtEl>
                                          <p:spTgt spid="10">
                                            <p:txEl>
                                              <p:pRg st="1" end="1"/>
                                            </p:txEl>
                                          </p:spTgt>
                                        </p:tgtEl>
                                      </p:cBhvr>
                                    </p:animEffect>
                                    <p:anim calcmode="lin" valueType="num">
                                      <p:cBhvr>
                                        <p:cTn id="34"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5"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0">
                                            <p:txEl>
                                              <p:pRg st="2" end="2"/>
                                            </p:txEl>
                                          </p:spTgt>
                                        </p:tgtEl>
                                        <p:attrNameLst>
                                          <p:attrName>style.visibility</p:attrName>
                                        </p:attrNameLst>
                                      </p:cBhvr>
                                      <p:to>
                                        <p:strVal val="visible"/>
                                      </p:to>
                                    </p:set>
                                    <p:animEffect transition="in" filter="fade">
                                      <p:cBhvr>
                                        <p:cTn id="38" dur="1000"/>
                                        <p:tgtEl>
                                          <p:spTgt spid="10">
                                            <p:txEl>
                                              <p:pRg st="2" end="2"/>
                                            </p:txEl>
                                          </p:spTgt>
                                        </p:tgtEl>
                                      </p:cBhvr>
                                    </p:animEffect>
                                    <p:anim calcmode="lin" valueType="num">
                                      <p:cBhvr>
                                        <p:cTn id="39"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0"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xmlns="" val="tx"/>
                    </a:ext>
                  </a:extLst>
                </a:hlinkClick>
              </a:rPr>
              <a:t>Demo Link</a:t>
            </a:r>
            <a:endParaRPr lang="en-IN" b="0" u="sng" dirty="0">
              <a:solidFill>
                <a:srgbClr val="0070C0"/>
              </a:solidFill>
            </a:endParaRPr>
          </a:p>
        </p:txBody>
      </p:sp>
      <p:sp>
        <p:nvSpPr>
          <p:cNvPr id="10" name="Text Placeholder 1">
            <a:extLst>
              <a:ext uri="{FF2B5EF4-FFF2-40B4-BE49-F238E27FC236}">
                <a16:creationId xmlns="" xmlns:a16="http://schemas.microsoft.com/office/drawing/2014/main" id="{B19D8AC7-3787-4ADB-9212-0808F015C2DD}"/>
              </a:ext>
            </a:extLst>
          </p:cNvPr>
          <p:cNvSpPr>
            <a:spLocks noGrp="1"/>
          </p:cNvSpPr>
          <p:nvPr>
            <p:ph type="body" sz="quarter" idx="12"/>
          </p:nvPr>
        </p:nvSpPr>
        <p:spPr>
          <a:xfrm>
            <a:off x="807163" y="1431693"/>
            <a:ext cx="4414835" cy="4405436"/>
          </a:xfrm>
        </p:spPr>
        <p:txBody>
          <a:bodyPr>
            <a:normAutofit/>
          </a:bodyPr>
          <a:lstStyle/>
          <a:p>
            <a:pPr marL="0" indent="0" algn="just">
              <a:buNone/>
            </a:pPr>
            <a:r>
              <a:rPr lang="en-IN" dirty="0" smtClean="0"/>
              <a:t>Top 5 states in terms of sales:</a:t>
            </a:r>
          </a:p>
          <a:p>
            <a:pPr lvl="1" algn="just"/>
            <a:r>
              <a:rPr lang="en-US" dirty="0" smtClean="0"/>
              <a:t>According </a:t>
            </a:r>
            <a:r>
              <a:rPr lang="en-US" dirty="0"/>
              <a:t>to above data we can say that California has highest sales and New York has second highest sales</a:t>
            </a:r>
          </a:p>
          <a:p>
            <a:pPr lvl="1" algn="just"/>
            <a:r>
              <a:rPr lang="en-US" dirty="0" smtClean="0"/>
              <a:t>And then Texas </a:t>
            </a:r>
            <a:r>
              <a:rPr lang="en-US" dirty="0"/>
              <a:t>has third highest sales and Washington has fourth highest sales</a:t>
            </a:r>
          </a:p>
          <a:p>
            <a:pPr lvl="1" algn="just"/>
            <a:r>
              <a:rPr lang="en-US" dirty="0" smtClean="0"/>
              <a:t>After all Pennsylvania </a:t>
            </a:r>
            <a:r>
              <a:rPr lang="en-US" dirty="0"/>
              <a:t>has fifth highest sales</a:t>
            </a:r>
          </a:p>
          <a:p>
            <a:pPr lvl="1" algn="just"/>
            <a:r>
              <a:rPr lang="en-US" dirty="0" smtClean="0"/>
              <a:t>This </a:t>
            </a:r>
            <a:r>
              <a:rPr lang="en-US" dirty="0"/>
              <a:t>helps us to understand the sales trend in different states</a:t>
            </a:r>
          </a:p>
          <a:p>
            <a:pPr marL="685800" lvl="1" algn="just"/>
            <a:endParaRPr lang="en-IN" dirty="0" smtClean="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25659" y="1608410"/>
            <a:ext cx="4877920" cy="4489713"/>
          </a:xfrm>
          <a:prstGeom prst="rect">
            <a:avLst/>
          </a:prstGeom>
        </p:spPr>
      </p:pic>
    </p:spTree>
    <p:extLst>
      <p:ext uri="{BB962C8B-B14F-4D97-AF65-F5344CB8AC3E}">
        <p14:creationId xmlns:p14="http://schemas.microsoft.com/office/powerpoint/2010/main" val="1674557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xmlns="" val="tx"/>
                    </a:ext>
                  </a:extLst>
                </a:hlinkClick>
              </a:rPr>
              <a:t>Demo Link</a:t>
            </a:r>
            <a:endParaRPr lang="en-IN" b="0" u="sng" dirty="0">
              <a:solidFill>
                <a:srgbClr val="0070C0"/>
              </a:solidFill>
            </a:endParaRPr>
          </a:p>
        </p:txBody>
      </p:sp>
      <p:sp>
        <p:nvSpPr>
          <p:cNvPr id="10" name="Text Placeholder 1">
            <a:extLst>
              <a:ext uri="{FF2B5EF4-FFF2-40B4-BE49-F238E27FC236}">
                <a16:creationId xmlns="" xmlns:a16="http://schemas.microsoft.com/office/drawing/2014/main" id="{B19D8AC7-3787-4ADB-9212-0808F015C2DD}"/>
              </a:ext>
            </a:extLst>
          </p:cNvPr>
          <p:cNvSpPr>
            <a:spLocks noGrp="1"/>
          </p:cNvSpPr>
          <p:nvPr>
            <p:ph type="body" sz="quarter" idx="12"/>
          </p:nvPr>
        </p:nvSpPr>
        <p:spPr>
          <a:xfrm>
            <a:off x="807163" y="1431693"/>
            <a:ext cx="4414835" cy="4405436"/>
          </a:xfrm>
        </p:spPr>
        <p:txBody>
          <a:bodyPr>
            <a:normAutofit/>
          </a:bodyPr>
          <a:lstStyle/>
          <a:p>
            <a:pPr marL="0" indent="0">
              <a:buNone/>
            </a:pPr>
            <a:r>
              <a:rPr lang="en-IN" dirty="0" smtClean="0"/>
              <a:t>Top 5 cities in terms of sales:</a:t>
            </a:r>
          </a:p>
          <a:p>
            <a:pPr lvl="1" algn="just"/>
            <a:r>
              <a:rPr lang="en-US" dirty="0" smtClean="0"/>
              <a:t>The above data give us understanding that New York City is on top in terms of sales.</a:t>
            </a:r>
          </a:p>
          <a:p>
            <a:pPr lvl="1" algn="just"/>
            <a:r>
              <a:rPr lang="en-US" dirty="0" smtClean="0"/>
              <a:t>Then comes </a:t>
            </a:r>
            <a:r>
              <a:rPr lang="en-US" dirty="0" err="1" smtClean="0"/>
              <a:t>Losangeles</a:t>
            </a:r>
            <a:r>
              <a:rPr lang="en-US" dirty="0" smtClean="0"/>
              <a:t> , Seattle and San Francisco on the position of 2</a:t>
            </a:r>
            <a:r>
              <a:rPr lang="en-US" baseline="30000" dirty="0" smtClean="0"/>
              <a:t>nd</a:t>
            </a:r>
            <a:r>
              <a:rPr lang="en-US" dirty="0" smtClean="0"/>
              <a:t> , 3</a:t>
            </a:r>
            <a:r>
              <a:rPr lang="en-US" baseline="30000" dirty="0" smtClean="0"/>
              <a:t>rd</a:t>
            </a:r>
            <a:r>
              <a:rPr lang="en-US" dirty="0" smtClean="0"/>
              <a:t> and 4</a:t>
            </a:r>
            <a:r>
              <a:rPr lang="en-US" baseline="30000" dirty="0" smtClean="0"/>
              <a:t>th</a:t>
            </a:r>
            <a:r>
              <a:rPr lang="en-US" dirty="0" smtClean="0"/>
              <a:t> respectively.</a:t>
            </a:r>
          </a:p>
          <a:p>
            <a:pPr lvl="1" algn="just"/>
            <a:r>
              <a:rPr lang="en-US" dirty="0" smtClean="0"/>
              <a:t>At last at 5</a:t>
            </a:r>
            <a:r>
              <a:rPr lang="en-US" baseline="30000" dirty="0" smtClean="0"/>
              <a:t>th</a:t>
            </a:r>
            <a:r>
              <a:rPr lang="en-US" dirty="0" smtClean="0"/>
              <a:t> position comes Philadelphia.</a:t>
            </a:r>
            <a:endParaRPr lang="en-US" dirty="0"/>
          </a:p>
          <a:p>
            <a:pPr marL="685800" lvl="1"/>
            <a:endParaRPr lang="en-IN" dirty="0" smtClean="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43860" y="1608410"/>
            <a:ext cx="4841518" cy="4489713"/>
          </a:xfrm>
          <a:prstGeom prst="rect">
            <a:avLst/>
          </a:prstGeom>
        </p:spPr>
      </p:pic>
    </p:spTree>
    <p:extLst>
      <p:ext uri="{BB962C8B-B14F-4D97-AF65-F5344CB8AC3E}">
        <p14:creationId xmlns:p14="http://schemas.microsoft.com/office/powerpoint/2010/main" val="190375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xEl>
                                              <p:pRg st="1" end="1"/>
                                            </p:txEl>
                                          </p:spTgt>
                                        </p:tgtEl>
                                        <p:attrNameLst>
                                          <p:attrName>style.visibility</p:attrName>
                                        </p:attrNameLst>
                                      </p:cBhvr>
                                      <p:to>
                                        <p:strVal val="visible"/>
                                      </p:to>
                                    </p:set>
                                    <p:animEffect transition="in" filter="fade">
                                      <p:cBhvr>
                                        <p:cTn id="33" dur="1000"/>
                                        <p:tgtEl>
                                          <p:spTgt spid="10">
                                            <p:txEl>
                                              <p:pRg st="1" end="1"/>
                                            </p:txEl>
                                          </p:spTgt>
                                        </p:tgtEl>
                                      </p:cBhvr>
                                    </p:animEffect>
                                    <p:anim calcmode="lin" valueType="num">
                                      <p:cBhvr>
                                        <p:cTn id="34"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5"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0">
                                            <p:txEl>
                                              <p:pRg st="2" end="2"/>
                                            </p:txEl>
                                          </p:spTgt>
                                        </p:tgtEl>
                                        <p:attrNameLst>
                                          <p:attrName>style.visibility</p:attrName>
                                        </p:attrNameLst>
                                      </p:cBhvr>
                                      <p:to>
                                        <p:strVal val="visible"/>
                                      </p:to>
                                    </p:set>
                                    <p:animEffect transition="in" filter="fade">
                                      <p:cBhvr>
                                        <p:cTn id="38" dur="1000"/>
                                        <p:tgtEl>
                                          <p:spTgt spid="10">
                                            <p:txEl>
                                              <p:pRg st="2" end="2"/>
                                            </p:txEl>
                                          </p:spTgt>
                                        </p:tgtEl>
                                      </p:cBhvr>
                                    </p:animEffect>
                                    <p:anim calcmode="lin" valueType="num">
                                      <p:cBhvr>
                                        <p:cTn id="39"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0" dur="1000" fill="hold"/>
                                        <p:tgtEl>
                                          <p:spTgt spid="10">
                                            <p:txEl>
                                              <p:pRg st="2" end="2"/>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0">
                                            <p:txEl>
                                              <p:pRg st="3" end="3"/>
                                            </p:txEl>
                                          </p:spTgt>
                                        </p:tgtEl>
                                        <p:attrNameLst>
                                          <p:attrName>style.visibility</p:attrName>
                                        </p:attrNameLst>
                                      </p:cBhvr>
                                      <p:to>
                                        <p:strVal val="visible"/>
                                      </p:to>
                                    </p:set>
                                    <p:animEffect transition="in" filter="fade">
                                      <p:cBhvr>
                                        <p:cTn id="43" dur="1000"/>
                                        <p:tgtEl>
                                          <p:spTgt spid="10">
                                            <p:txEl>
                                              <p:pRg st="3" end="3"/>
                                            </p:txEl>
                                          </p:spTgt>
                                        </p:tgtEl>
                                      </p:cBhvr>
                                    </p:animEffect>
                                    <p:anim calcmode="lin" valueType="num">
                                      <p:cBhvr>
                                        <p:cTn id="44"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45"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xmlns="" val="tx"/>
                    </a:ext>
                  </a:extLst>
                </a:hlinkClick>
              </a:rPr>
              <a:t>Demo Link</a:t>
            </a:r>
            <a:endParaRPr lang="en-IN" b="0" u="sng" dirty="0">
              <a:solidFill>
                <a:srgbClr val="0070C0"/>
              </a:solidFill>
            </a:endParaRPr>
          </a:p>
        </p:txBody>
      </p:sp>
      <p:sp>
        <p:nvSpPr>
          <p:cNvPr id="10" name="Text Placeholder 1">
            <a:extLst>
              <a:ext uri="{FF2B5EF4-FFF2-40B4-BE49-F238E27FC236}">
                <a16:creationId xmlns="" xmlns:a16="http://schemas.microsoft.com/office/drawing/2014/main" id="{B19D8AC7-3787-4ADB-9212-0808F015C2DD}"/>
              </a:ext>
            </a:extLst>
          </p:cNvPr>
          <p:cNvSpPr>
            <a:spLocks noGrp="1"/>
          </p:cNvSpPr>
          <p:nvPr>
            <p:ph type="body" sz="quarter" idx="12"/>
          </p:nvPr>
        </p:nvSpPr>
        <p:spPr>
          <a:xfrm>
            <a:off x="807163" y="1431693"/>
            <a:ext cx="4414835" cy="4405436"/>
          </a:xfrm>
        </p:spPr>
        <p:txBody>
          <a:bodyPr>
            <a:normAutofit/>
          </a:bodyPr>
          <a:lstStyle/>
          <a:p>
            <a:pPr marL="0" indent="0">
              <a:buNone/>
            </a:pPr>
            <a:r>
              <a:rPr lang="en-IN" dirty="0" smtClean="0"/>
              <a:t>Bottom 5 states in terms of sales:</a:t>
            </a:r>
          </a:p>
          <a:p>
            <a:pPr lvl="1"/>
            <a:r>
              <a:rPr lang="en-US" dirty="0" smtClean="0"/>
              <a:t>The state with least amount of sales is North Dakota.</a:t>
            </a:r>
          </a:p>
          <a:p>
            <a:pPr lvl="1"/>
            <a:r>
              <a:rPr lang="en-US" dirty="0" smtClean="0"/>
              <a:t>Then comes West Virginia being the second least and Maine being third least.</a:t>
            </a:r>
          </a:p>
          <a:p>
            <a:pPr lvl="1"/>
            <a:r>
              <a:rPr lang="en-US" dirty="0" smtClean="0"/>
              <a:t>And then comes Wyoming with somewhat better than rest of all.</a:t>
            </a:r>
          </a:p>
          <a:p>
            <a:pPr lvl="1"/>
            <a:endParaRPr lang="en-US" dirty="0"/>
          </a:p>
          <a:p>
            <a:pPr marL="685800" lvl="1"/>
            <a:endParaRPr lang="en-IN" dirty="0" smtClean="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14863" y="1608410"/>
            <a:ext cx="4699512" cy="4489713"/>
          </a:xfrm>
          <a:prstGeom prst="rect">
            <a:avLst/>
          </a:prstGeom>
        </p:spPr>
      </p:pic>
    </p:spTree>
    <p:extLst>
      <p:ext uri="{BB962C8B-B14F-4D97-AF65-F5344CB8AC3E}">
        <p14:creationId xmlns:p14="http://schemas.microsoft.com/office/powerpoint/2010/main" val="190375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xEl>
                                              <p:pRg st="1" end="1"/>
                                            </p:txEl>
                                          </p:spTgt>
                                        </p:tgtEl>
                                        <p:attrNameLst>
                                          <p:attrName>style.visibility</p:attrName>
                                        </p:attrNameLst>
                                      </p:cBhvr>
                                      <p:to>
                                        <p:strVal val="visible"/>
                                      </p:to>
                                    </p:set>
                                    <p:animEffect transition="in" filter="fade">
                                      <p:cBhvr>
                                        <p:cTn id="33" dur="1000"/>
                                        <p:tgtEl>
                                          <p:spTgt spid="10">
                                            <p:txEl>
                                              <p:pRg st="1" end="1"/>
                                            </p:txEl>
                                          </p:spTgt>
                                        </p:tgtEl>
                                      </p:cBhvr>
                                    </p:animEffect>
                                    <p:anim calcmode="lin" valueType="num">
                                      <p:cBhvr>
                                        <p:cTn id="34"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5"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0">
                                            <p:txEl>
                                              <p:pRg st="2" end="2"/>
                                            </p:txEl>
                                          </p:spTgt>
                                        </p:tgtEl>
                                        <p:attrNameLst>
                                          <p:attrName>style.visibility</p:attrName>
                                        </p:attrNameLst>
                                      </p:cBhvr>
                                      <p:to>
                                        <p:strVal val="visible"/>
                                      </p:to>
                                    </p:set>
                                    <p:animEffect transition="in" filter="fade">
                                      <p:cBhvr>
                                        <p:cTn id="38" dur="1000"/>
                                        <p:tgtEl>
                                          <p:spTgt spid="10">
                                            <p:txEl>
                                              <p:pRg st="2" end="2"/>
                                            </p:txEl>
                                          </p:spTgt>
                                        </p:tgtEl>
                                      </p:cBhvr>
                                    </p:animEffect>
                                    <p:anim calcmode="lin" valueType="num">
                                      <p:cBhvr>
                                        <p:cTn id="39"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0" dur="1000" fill="hold"/>
                                        <p:tgtEl>
                                          <p:spTgt spid="10">
                                            <p:txEl>
                                              <p:pRg st="2" end="2"/>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0">
                                            <p:txEl>
                                              <p:pRg st="3" end="3"/>
                                            </p:txEl>
                                          </p:spTgt>
                                        </p:tgtEl>
                                        <p:attrNameLst>
                                          <p:attrName>style.visibility</p:attrName>
                                        </p:attrNameLst>
                                      </p:cBhvr>
                                      <p:to>
                                        <p:strVal val="visible"/>
                                      </p:to>
                                    </p:set>
                                    <p:animEffect transition="in" filter="fade">
                                      <p:cBhvr>
                                        <p:cTn id="43" dur="1000"/>
                                        <p:tgtEl>
                                          <p:spTgt spid="10">
                                            <p:txEl>
                                              <p:pRg st="3" end="3"/>
                                            </p:txEl>
                                          </p:spTgt>
                                        </p:tgtEl>
                                      </p:cBhvr>
                                    </p:animEffect>
                                    <p:anim calcmode="lin" valueType="num">
                                      <p:cBhvr>
                                        <p:cTn id="44"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45"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err="1" smtClean="0">
                <a:solidFill>
                  <a:srgbClr val="0070C0"/>
                </a:solidFill>
                <a:hlinkClick r:id="rId3" action="ppaction://hlinkfile">
                  <a:extLst>
                    <a:ext uri="{A12FA001-AC4F-418D-AE19-62706E023703}">
                      <ahyp:hlinkClr xmlns:ahyp="http://schemas.microsoft.com/office/drawing/2018/hyperlinkcolor" xmlns="" val="tx"/>
                    </a:ext>
                  </a:extLst>
                </a:hlinkClick>
              </a:rPr>
              <a:t>Deo</a:t>
            </a:r>
            <a:r>
              <a:rPr lang="en-GB" sz="2000" b="0" u="sng" dirty="0" smtClean="0">
                <a:solidFill>
                  <a:srgbClr val="0070C0"/>
                </a:solidFill>
                <a:hlinkClick r:id="rId3" action="ppaction://hlinkfile">
                  <a:extLst>
                    <a:ext uri="{A12FA001-AC4F-418D-AE19-62706E023703}">
                      <ahyp:hlinkClr xmlns:ahyp="http://schemas.microsoft.com/office/drawing/2018/hyperlinkcolor" xmlns="" val="tx"/>
                    </a:ext>
                  </a:extLst>
                </a:hlinkClick>
              </a:rPr>
              <a:t> </a:t>
            </a:r>
            <a:r>
              <a:rPr lang="en-GB" sz="2000" b="0" u="sng" dirty="0">
                <a:solidFill>
                  <a:srgbClr val="0070C0"/>
                </a:solidFill>
                <a:hlinkClick r:id="rId3" action="ppaction://hlinkfile">
                  <a:extLst>
                    <a:ext uri="{A12FA001-AC4F-418D-AE19-62706E023703}">
                      <ahyp:hlinkClr xmlns:ahyp="http://schemas.microsoft.com/office/drawing/2018/hyperlinkcolor" xmlns="" val="tx"/>
                    </a:ext>
                  </a:extLst>
                </a:hlinkClick>
              </a:rPr>
              <a:t>Link</a:t>
            </a:r>
            <a:endParaRPr lang="en-IN" b="0" u="sng" dirty="0">
              <a:solidFill>
                <a:srgbClr val="0070C0"/>
              </a:solidFill>
            </a:endParaRPr>
          </a:p>
        </p:txBody>
      </p:sp>
      <p:sp>
        <p:nvSpPr>
          <p:cNvPr id="10" name="Text Placeholder 1">
            <a:extLst>
              <a:ext uri="{FF2B5EF4-FFF2-40B4-BE49-F238E27FC236}">
                <a16:creationId xmlns="" xmlns:a16="http://schemas.microsoft.com/office/drawing/2014/main" id="{B19D8AC7-3787-4ADB-9212-0808F015C2DD}"/>
              </a:ext>
            </a:extLst>
          </p:cNvPr>
          <p:cNvSpPr>
            <a:spLocks noGrp="1"/>
          </p:cNvSpPr>
          <p:nvPr>
            <p:ph type="body" sz="quarter" idx="12"/>
          </p:nvPr>
        </p:nvSpPr>
        <p:spPr>
          <a:xfrm>
            <a:off x="807163" y="1431693"/>
            <a:ext cx="4414835" cy="4405436"/>
          </a:xfrm>
        </p:spPr>
        <p:txBody>
          <a:bodyPr>
            <a:normAutofit lnSpcReduction="10000"/>
          </a:bodyPr>
          <a:lstStyle/>
          <a:p>
            <a:pPr marL="0" indent="0" algn="just">
              <a:buNone/>
            </a:pPr>
            <a:r>
              <a:rPr lang="en-IN" dirty="0" smtClean="0"/>
              <a:t>Analysis of Customer Segment (Sales):</a:t>
            </a:r>
          </a:p>
          <a:p>
            <a:pPr lvl="1" algn="just"/>
            <a:r>
              <a:rPr lang="en-US" dirty="0"/>
              <a:t>This pie chart presents the distribution of sales across three customer segments: </a:t>
            </a:r>
            <a:r>
              <a:rPr lang="en-US" b="1" dirty="0" smtClean="0"/>
              <a:t>Consumer</a:t>
            </a:r>
            <a:r>
              <a:rPr lang="en-US" dirty="0" smtClean="0"/>
              <a:t>, </a:t>
            </a:r>
            <a:r>
              <a:rPr lang="en-US" b="1" dirty="0" smtClean="0"/>
              <a:t>Corporate</a:t>
            </a:r>
            <a:r>
              <a:rPr lang="en-US" dirty="0" smtClean="0"/>
              <a:t>, </a:t>
            </a:r>
            <a:r>
              <a:rPr lang="en-US" dirty="0"/>
              <a:t>and </a:t>
            </a:r>
            <a:r>
              <a:rPr lang="en-US" b="1" dirty="0" smtClean="0"/>
              <a:t>Home Office</a:t>
            </a:r>
            <a:r>
              <a:rPr lang="en-US" dirty="0" smtClean="0"/>
              <a:t>. </a:t>
            </a:r>
          </a:p>
          <a:p>
            <a:pPr lvl="1" algn="just"/>
            <a:r>
              <a:rPr lang="en-US" dirty="0" smtClean="0"/>
              <a:t>The </a:t>
            </a:r>
            <a:r>
              <a:rPr lang="en-US" b="1" dirty="0" smtClean="0"/>
              <a:t>Consumer</a:t>
            </a:r>
            <a:r>
              <a:rPr lang="en-US" dirty="0" smtClean="0"/>
              <a:t> </a:t>
            </a:r>
            <a:r>
              <a:rPr lang="en-US" dirty="0"/>
              <a:t>segment leads with </a:t>
            </a:r>
            <a:r>
              <a:rPr lang="en-US" b="1" dirty="0" smtClean="0"/>
              <a:t>50.6%</a:t>
            </a:r>
            <a:r>
              <a:rPr lang="en-US" dirty="0" smtClean="0"/>
              <a:t> </a:t>
            </a:r>
            <a:r>
              <a:rPr lang="en-US" dirty="0"/>
              <a:t>of the total sales, indicating the highest revenue contribution. </a:t>
            </a:r>
            <a:endParaRPr lang="en-US" dirty="0" smtClean="0"/>
          </a:p>
          <a:p>
            <a:pPr lvl="1" algn="just"/>
            <a:r>
              <a:rPr lang="en-US" dirty="0" smtClean="0"/>
              <a:t>The </a:t>
            </a:r>
            <a:r>
              <a:rPr lang="en-US" b="1" dirty="0" smtClean="0"/>
              <a:t>Corporate</a:t>
            </a:r>
            <a:r>
              <a:rPr lang="en-US" dirty="0" smtClean="0"/>
              <a:t> </a:t>
            </a:r>
            <a:r>
              <a:rPr lang="en-US" dirty="0"/>
              <a:t>segment accounts for </a:t>
            </a:r>
            <a:r>
              <a:rPr lang="en-US" b="1" dirty="0" smtClean="0"/>
              <a:t>30.7%</a:t>
            </a:r>
            <a:r>
              <a:rPr lang="en-US" dirty="0" smtClean="0"/>
              <a:t> </a:t>
            </a:r>
            <a:r>
              <a:rPr lang="en-US" dirty="0"/>
              <a:t>of sales, while the </a:t>
            </a:r>
            <a:r>
              <a:rPr lang="en-US" b="1" dirty="0" smtClean="0"/>
              <a:t>Home Office</a:t>
            </a:r>
            <a:r>
              <a:rPr lang="en-US" dirty="0" smtClean="0"/>
              <a:t> </a:t>
            </a:r>
            <a:r>
              <a:rPr lang="en-US" dirty="0"/>
              <a:t>segment </a:t>
            </a:r>
            <a:r>
              <a:rPr lang="en-US" dirty="0" smtClean="0"/>
              <a:t>contributes </a:t>
            </a:r>
            <a:r>
              <a:rPr lang="en-US" b="1" dirty="0" smtClean="0"/>
              <a:t>18.7%</a:t>
            </a:r>
            <a:r>
              <a:rPr lang="en-US" dirty="0" smtClean="0"/>
              <a:t>, </a:t>
            </a:r>
            <a:r>
              <a:rPr lang="en-US" dirty="0"/>
              <a:t>showing a smaller but notable share.</a:t>
            </a:r>
            <a:endParaRPr lang="en-IN" dirty="0" smtClean="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4056" y="1608410"/>
            <a:ext cx="4861125" cy="4489713"/>
          </a:xfrm>
          <a:prstGeom prst="rect">
            <a:avLst/>
          </a:prstGeom>
        </p:spPr>
      </p:pic>
    </p:spTree>
    <p:extLst>
      <p:ext uri="{BB962C8B-B14F-4D97-AF65-F5344CB8AC3E}">
        <p14:creationId xmlns:p14="http://schemas.microsoft.com/office/powerpoint/2010/main" val="190375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xmlns="" val="tx"/>
                    </a:ext>
                  </a:extLst>
                </a:hlinkClick>
              </a:rPr>
              <a:t>Demo Link</a:t>
            </a:r>
            <a:endParaRPr lang="en-IN" b="0" u="sng" dirty="0">
              <a:solidFill>
                <a:srgbClr val="0070C0"/>
              </a:solidFill>
            </a:endParaRPr>
          </a:p>
        </p:txBody>
      </p:sp>
      <p:sp>
        <p:nvSpPr>
          <p:cNvPr id="10" name="Text Placeholder 1">
            <a:extLst>
              <a:ext uri="{FF2B5EF4-FFF2-40B4-BE49-F238E27FC236}">
                <a16:creationId xmlns="" xmlns:a16="http://schemas.microsoft.com/office/drawing/2014/main" id="{B19D8AC7-3787-4ADB-9212-0808F015C2DD}"/>
              </a:ext>
            </a:extLst>
          </p:cNvPr>
          <p:cNvSpPr>
            <a:spLocks noGrp="1"/>
          </p:cNvSpPr>
          <p:nvPr>
            <p:ph type="body" sz="quarter" idx="12"/>
          </p:nvPr>
        </p:nvSpPr>
        <p:spPr>
          <a:xfrm>
            <a:off x="807163" y="1431693"/>
            <a:ext cx="4414835" cy="4405436"/>
          </a:xfrm>
        </p:spPr>
        <p:txBody>
          <a:bodyPr>
            <a:normAutofit/>
          </a:bodyPr>
          <a:lstStyle/>
          <a:p>
            <a:pPr marL="0" indent="0" algn="just">
              <a:buNone/>
            </a:pPr>
            <a:r>
              <a:rPr lang="en-IN" dirty="0" smtClean="0"/>
              <a:t>Analysis of Customer Segment (Profit):</a:t>
            </a:r>
            <a:endParaRPr lang="en-US" dirty="0"/>
          </a:p>
          <a:p>
            <a:pPr lvl="1" algn="just"/>
            <a:r>
              <a:rPr lang="en-US" dirty="0"/>
              <a:t>This pie chart illustrates the distribution of profit across three customer segments: </a:t>
            </a:r>
            <a:r>
              <a:rPr lang="en-US" b="1" dirty="0"/>
              <a:t>Consumer</a:t>
            </a:r>
            <a:r>
              <a:rPr lang="en-US" dirty="0"/>
              <a:t>, </a:t>
            </a:r>
            <a:r>
              <a:rPr lang="en-US" b="1" dirty="0"/>
              <a:t>Corporate</a:t>
            </a:r>
            <a:r>
              <a:rPr lang="en-US" dirty="0"/>
              <a:t>, and </a:t>
            </a:r>
            <a:r>
              <a:rPr lang="en-US" b="1" dirty="0"/>
              <a:t>Home Office</a:t>
            </a:r>
            <a:r>
              <a:rPr lang="en-US" dirty="0"/>
              <a:t>. </a:t>
            </a:r>
            <a:endParaRPr lang="en-US" dirty="0" smtClean="0"/>
          </a:p>
          <a:p>
            <a:pPr lvl="1" algn="just"/>
            <a:r>
              <a:rPr lang="en-US" dirty="0" smtClean="0"/>
              <a:t>The </a:t>
            </a:r>
            <a:r>
              <a:rPr lang="en-US" b="1" dirty="0"/>
              <a:t>Consumer</a:t>
            </a:r>
            <a:r>
              <a:rPr lang="en-US" dirty="0"/>
              <a:t> segment contributes the most to profits, with </a:t>
            </a:r>
            <a:r>
              <a:rPr lang="en-US" b="1" dirty="0"/>
              <a:t>46.8%</a:t>
            </a:r>
            <a:r>
              <a:rPr lang="en-US" dirty="0"/>
              <a:t> of the total. </a:t>
            </a:r>
            <a:endParaRPr lang="en-US" dirty="0" smtClean="0"/>
          </a:p>
          <a:p>
            <a:pPr lvl="1" algn="just"/>
            <a:r>
              <a:rPr lang="en-US" dirty="0" smtClean="0"/>
              <a:t>The </a:t>
            </a:r>
            <a:r>
              <a:rPr lang="en-US" b="1" dirty="0"/>
              <a:t>Corporate</a:t>
            </a:r>
            <a:r>
              <a:rPr lang="en-US" dirty="0"/>
              <a:t> segment follows, accounting for </a:t>
            </a:r>
            <a:r>
              <a:rPr lang="en-US" b="1" dirty="0"/>
              <a:t>32.1%</a:t>
            </a:r>
            <a:r>
              <a:rPr lang="en-US" dirty="0"/>
              <a:t> of profits, while the </a:t>
            </a:r>
            <a:r>
              <a:rPr lang="en-US" b="1" dirty="0"/>
              <a:t>Home Office</a:t>
            </a:r>
            <a:r>
              <a:rPr lang="en-US" dirty="0"/>
              <a:t> segment makes up </a:t>
            </a:r>
            <a:r>
              <a:rPr lang="en-US" b="1" dirty="0"/>
              <a:t>21.1%</a:t>
            </a:r>
            <a:r>
              <a:rPr lang="en-US" dirty="0"/>
              <a:t>, reflecting a smaller but significant share.</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4056" y="1608410"/>
            <a:ext cx="4861125" cy="4489713"/>
          </a:xfrm>
          <a:prstGeom prst="rect">
            <a:avLst/>
          </a:prstGeom>
        </p:spPr>
      </p:pic>
    </p:spTree>
    <p:extLst>
      <p:ext uri="{BB962C8B-B14F-4D97-AF65-F5344CB8AC3E}">
        <p14:creationId xmlns:p14="http://schemas.microsoft.com/office/powerpoint/2010/main" val="131143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smtClean="0">
                <a:solidFill>
                  <a:schemeClr val="tx1"/>
                </a:solidFill>
              </a:rPr>
              <a:t>Thank you</a:t>
            </a:r>
            <a:endParaRPr lang="en-US" sz="4800" b="1" dirty="0">
              <a:solidFill>
                <a:schemeClr val="tx1"/>
              </a:solidFill>
            </a:endParaRPr>
          </a:p>
        </p:txBody>
      </p:sp>
      <p:sp>
        <p:nvSpPr>
          <p:cNvPr id="31" name="Text Placeholder 30">
            <a:extLst>
              <a:ext uri="{FF2B5EF4-FFF2-40B4-BE49-F238E27FC236}">
                <a16:creationId xmlns=""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704</TotalTime>
  <Words>701</Words>
  <Application>Microsoft Office PowerPoint</Application>
  <PresentationFormat>Custom</PresentationFormat>
  <Paragraphs>69</Paragraphs>
  <Slides>13</Slides>
  <Notes>1</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Facet</vt:lpstr>
      <vt:lpstr>Data Analysis of Superstore Sales for Strategic Insights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cp:lastModifiedBy>
  <cp:revision>86</cp:revision>
  <dcterms:created xsi:type="dcterms:W3CDTF">2021-07-11T13:13:15Z</dcterms:created>
  <dcterms:modified xsi:type="dcterms:W3CDTF">2024-10-28T18:32:17Z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